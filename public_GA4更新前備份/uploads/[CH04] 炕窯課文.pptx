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715000"/>
  <p:notesSz cx="9144000" cy="5715000"/>
  <p:embeddedFontLst>
    <p:embeddedFont>
      <p:font typeface="MQEEGF+TWKAI,Bold"/>
      <p:regular r:id="rId15"/>
    </p:embeddedFont>
    <p:embeddedFont>
      <p:font typeface="HGOBBQ+MicrosoftJhengHeiRegular"/>
      <p:regular r:id="rId16"/>
    </p:embeddedFont>
    <p:embeddedFont>
      <p:font typeface="KWTCNS+Wingdings-Regular"/>
      <p:regular r:id="rId17"/>
    </p:embeddedFont>
    <p:embeddedFont>
      <p:font typeface="EVDDRD+TaiwaneseSerif,Bold"/>
      <p:regular r:id="rId18"/>
    </p:embeddedFont>
    <p:embeddedFont>
      <p:font typeface="PELGRM+MicrosoftJhengHei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font" Target="fonts/font1.fntdata" /><Relationship Id="rId16" Type="http://schemas.openxmlformats.org/officeDocument/2006/relationships/font" Target="fonts/font2.fntdata" /><Relationship Id="rId17" Type="http://schemas.openxmlformats.org/officeDocument/2006/relationships/font" Target="fonts/font3.fntdata" /><Relationship Id="rId18" Type="http://schemas.openxmlformats.org/officeDocument/2006/relationships/font" Target="fonts/font4.fntdata" /><Relationship Id="rId19" Type="http://schemas.openxmlformats.org/officeDocument/2006/relationships/font" Target="fonts/font5.fntdata" /><Relationship Id="rId2" Type="http://schemas.openxmlformats.org/officeDocument/2006/relationships/tableStyles" Target="tableStyles.xml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95065" y="1475411"/>
            <a:ext cx="8587739" cy="14129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2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spc="-67">
                <a:solidFill>
                  <a:srgbClr val="3d3935"/>
                </a:solidFill>
                <a:latin typeface="MQEEGF+TWKAI,Bold"/>
                <a:cs typeface="MQEEGF+TWKAI,Bold"/>
              </a:rPr>
              <a:t>今年歇寒，阿爸ꢀ公司的同事，相招去大肚山的</a:t>
            </a:r>
          </a:p>
          <a:p>
            <a:pPr marL="0" marR="0">
              <a:lnSpc>
                <a:spcPts val="3229"/>
              </a:lnSpc>
              <a:spcBef>
                <a:spcPts val="466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望高寮</a:t>
            </a:r>
            <a:r>
              <a:rPr dirty="0" sz="2800" u="sng">
                <a:solidFill>
                  <a:srgbClr val="ff6d82"/>
                </a:solidFill>
                <a:latin typeface="MQEEGF+TWKAI,Bold"/>
                <a:cs typeface="MQEEGF+TWKAI,Bold"/>
              </a:rPr>
              <a:t>炕窯</a:t>
            </a:r>
            <a:r>
              <a:rPr dirty="0" sz="2800" baseline="29999">
                <a:solidFill>
                  <a:srgbClr val="ff6d82"/>
                </a:solidFill>
                <a:latin typeface="MQEEGF+TWKAI,Bold"/>
                <a:cs typeface="MQEEGF+TWKAI,Bold"/>
              </a:rPr>
              <a:t>1ꢁ</a:t>
            </a: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26826" y="2953981"/>
            <a:ext cx="1962546" cy="322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ffffff"/>
                </a:solidFill>
                <a:latin typeface="HGOBBQ+MicrosoftJhengHeiRegular"/>
                <a:cs typeface="HGOBBQ+MicrosoftJhengHeiRegular"/>
              </a:rPr>
              <a:t>台視台語新聞-逐工一字「窯」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12737" y="4400379"/>
            <a:ext cx="1801097" cy="800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dirty="0" sz="2450">
                <a:solidFill>
                  <a:srgbClr val="eb9981"/>
                </a:solidFill>
                <a:latin typeface="KWTCNS+Wingdings-Regular"/>
                <a:cs typeface="KWTCNS+Wingdings-Regular"/>
              </a:rPr>
              <a:t>l</a:t>
            </a:r>
            <a:r>
              <a:rPr dirty="0" sz="2450" spc="258">
                <a:solidFill>
                  <a:srgbClr val="eb9981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3d3935"/>
                </a:solidFill>
                <a:latin typeface="EVDDRD+TaiwaneseSerif,Bold"/>
                <a:cs typeface="EVDDRD+TaiwaneseSerif,Bold"/>
              </a:rPr>
              <a:t>khòng-iô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12736" y="4847901"/>
            <a:ext cx="6002655" cy="8092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67"/>
              </a:lnSpc>
              <a:spcBef>
                <a:spcPts val="0"/>
              </a:spcBef>
              <a:spcAft>
                <a:spcPts val="0"/>
              </a:spcAft>
            </a:pPr>
            <a:r>
              <a:rPr dirty="0" sz="2450">
                <a:solidFill>
                  <a:srgbClr val="eb9981"/>
                </a:solidFill>
                <a:latin typeface="KWTCNS+Wingdings-Regular"/>
                <a:cs typeface="KWTCNS+Wingdings-Regular"/>
              </a:rPr>
              <a:t>l</a:t>
            </a:r>
            <a:r>
              <a:rPr dirty="0" sz="2450" spc="258">
                <a:solidFill>
                  <a:srgbClr val="eb9981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3d3935"/>
                </a:solidFill>
                <a:latin typeface="MQEEGF+TWKAI,Bold"/>
                <a:cs typeface="MQEEGF+TWKAI,Bold"/>
              </a:rPr>
              <a:t>一種用窯內高溫餘熱燜熟番薯的方法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00071" y="5566910"/>
            <a:ext cx="333970" cy="2582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3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b="1">
                <a:solidFill>
                  <a:srgbClr val="ffffff"/>
                </a:solidFill>
                <a:latin typeface="PELGRM+MicrosoftJhengHeiBold"/>
                <a:cs typeface="PELGRM+MicrosoftJhengHeiBold"/>
              </a:rPr>
              <a:t>054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8670" y="1161942"/>
            <a:ext cx="8313896" cy="247971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2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約定的所在是阿爸同事的田地，大肚山的塗</a:t>
            </a:r>
          </a:p>
          <a:p>
            <a:pPr marL="0" marR="0">
              <a:lnSpc>
                <a:spcPts val="3229"/>
              </a:lnSpc>
              <a:spcBef>
                <a:spcPts val="852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是</a:t>
            </a:r>
            <a:r>
              <a:rPr dirty="0" sz="2800" u="sng">
                <a:solidFill>
                  <a:srgbClr val="ff6d82"/>
                </a:solidFill>
                <a:latin typeface="MQEEGF+TWKAI,Bold"/>
                <a:cs typeface="MQEEGF+TWKAI,Bold"/>
              </a:rPr>
              <a:t>紅仁塗</a:t>
            </a:r>
            <a:r>
              <a:rPr dirty="0" sz="2800" baseline="29999">
                <a:solidFill>
                  <a:srgbClr val="ff6d82"/>
                </a:solidFill>
                <a:latin typeface="MQEEGF+TWKAI,Bold"/>
                <a:cs typeface="MQEEGF+TWKAI,Bold"/>
              </a:rPr>
              <a:t>2</a:t>
            </a: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，上蓋出名的土產就是番薯佮塗豆，</a:t>
            </a:r>
          </a:p>
          <a:p>
            <a:pPr marL="0" marR="0">
              <a:lnSpc>
                <a:spcPts val="3229"/>
              </a:lnSpc>
              <a:spcBef>
                <a:spcPts val="802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遮的番薯全部攏是五十七號仔，白皮黃肉、</a:t>
            </a:r>
          </a:p>
          <a:p>
            <a:pPr marL="0" marR="0">
              <a:lnSpc>
                <a:spcPts val="3229"/>
              </a:lnSpc>
              <a:spcBef>
                <a:spcPts val="802"/>
              </a:spcBef>
              <a:spcAft>
                <a:spcPts val="0"/>
              </a:spcAft>
            </a:pPr>
            <a:r>
              <a:rPr dirty="0" sz="2800" u="sng">
                <a:solidFill>
                  <a:srgbClr val="ff6d82"/>
                </a:solidFill>
                <a:latin typeface="MQEEGF+TWKAI,Bold"/>
                <a:cs typeface="MQEEGF+TWKAI,Bold"/>
              </a:rPr>
              <a:t>瘦抽</a:t>
            </a:r>
            <a:r>
              <a:rPr dirty="0" sz="2800" baseline="29999">
                <a:solidFill>
                  <a:srgbClr val="ff6d82"/>
                </a:solidFill>
                <a:latin typeface="MQEEGF+TWKAI,Bold"/>
                <a:cs typeface="MQEEGF+TWKAI,Bold"/>
              </a:rPr>
              <a:t>3ꢁ</a:t>
            </a: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瘦抽，袂講蓋大條。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12737" y="4394874"/>
            <a:ext cx="3860745" cy="12572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dirty="0" sz="2450">
                <a:solidFill>
                  <a:srgbClr val="eb9981"/>
                </a:solidFill>
                <a:latin typeface="KWTCNS+Wingdings-Regular"/>
                <a:cs typeface="KWTCNS+Wingdings-Regular"/>
              </a:rPr>
              <a:t>l</a:t>
            </a:r>
            <a:r>
              <a:rPr dirty="0" sz="2450" spc="258">
                <a:solidFill>
                  <a:srgbClr val="eb9981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3d3935"/>
                </a:solidFill>
                <a:latin typeface="EVDDRD+TaiwaneseSerif,Bold"/>
                <a:cs typeface="EVDDRD+TaiwaneseSerif,Bold"/>
              </a:rPr>
              <a:t>âng-jîn-thôo</a:t>
            </a:r>
            <a:r>
              <a:rPr dirty="0" sz="2400" spc="-59">
                <a:solidFill>
                  <a:srgbClr val="3d3935"/>
                </a:solidFill>
                <a:latin typeface="EVDDRD+TaiwaneseSerif,Bold"/>
                <a:cs typeface="EVDDRD+TaiwaneseSerif,Bold"/>
              </a:rPr>
              <a:t> </a:t>
            </a:r>
            <a:r>
              <a:rPr dirty="0" sz="2400">
                <a:solidFill>
                  <a:srgbClr val="3d3935"/>
                </a:solidFill>
                <a:latin typeface="EVDDRD+TaiwaneseSerif,Bold"/>
                <a:cs typeface="EVDDRD+TaiwaneseSerif,Bold"/>
              </a:rPr>
              <a:t>/</a:t>
            </a:r>
            <a:r>
              <a:rPr dirty="0" sz="2400" spc="-61">
                <a:solidFill>
                  <a:srgbClr val="3d3935"/>
                </a:solidFill>
                <a:latin typeface="EVDDRD+TaiwaneseSerif,Bold"/>
                <a:cs typeface="EVDDRD+TaiwaneseSerif,Bold"/>
              </a:rPr>
              <a:t> </a:t>
            </a:r>
            <a:r>
              <a:rPr dirty="0" sz="2400">
                <a:solidFill>
                  <a:srgbClr val="3d3935"/>
                </a:solidFill>
                <a:latin typeface="EVDDRD+TaiwaneseSerif,Bold"/>
                <a:cs typeface="EVDDRD+TaiwaneseSerif,Bold"/>
              </a:rPr>
              <a:t>âng-lîn-thôo</a:t>
            </a:r>
          </a:p>
          <a:p>
            <a:pPr marL="0" marR="0">
              <a:lnSpc>
                <a:spcPts val="2767"/>
              </a:lnSpc>
              <a:spcBef>
                <a:spcPts val="829"/>
              </a:spcBef>
              <a:spcAft>
                <a:spcPts val="0"/>
              </a:spcAft>
            </a:pPr>
            <a:r>
              <a:rPr dirty="0" sz="2450">
                <a:solidFill>
                  <a:srgbClr val="eb9981"/>
                </a:solidFill>
                <a:latin typeface="KWTCNS+Wingdings-Regular"/>
                <a:cs typeface="KWTCNS+Wingdings-Regular"/>
              </a:rPr>
              <a:t>l</a:t>
            </a:r>
            <a:r>
              <a:rPr dirty="0" sz="2450" spc="258">
                <a:solidFill>
                  <a:srgbClr val="eb9981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3d3935"/>
                </a:solidFill>
                <a:latin typeface="MQEEGF+TWKAI,Bold"/>
                <a:cs typeface="MQEEGF+TWKAI,Bold"/>
              </a:rPr>
              <a:t>紅色的土壤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00071" y="5566910"/>
            <a:ext cx="333970" cy="2582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3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b="1">
                <a:solidFill>
                  <a:srgbClr val="ffffff"/>
                </a:solidFill>
                <a:latin typeface="PELGRM+MicrosoftJhengHeiBold"/>
                <a:cs typeface="PELGRM+MicrosoftJhengHeiBold"/>
              </a:rPr>
              <a:t>054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0098" y="1176650"/>
            <a:ext cx="8996680" cy="247971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2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今仔日大約有十</a:t>
            </a:r>
            <a:r>
              <a:rPr dirty="0" sz="2800" u="sng">
                <a:solidFill>
                  <a:srgbClr val="ff6d82"/>
                </a:solidFill>
                <a:latin typeface="MQEEGF+TWKAI,Bold"/>
                <a:cs typeface="MQEEGF+TWKAI,Bold"/>
              </a:rPr>
              <a:t>口灶</a:t>
            </a:r>
            <a:r>
              <a:rPr dirty="0" sz="2800" baseline="29999">
                <a:solidFill>
                  <a:srgbClr val="ff6d82"/>
                </a:solidFill>
                <a:latin typeface="MQEEGF+TWKAI,Bold"/>
                <a:cs typeface="MQEEGF+TWKAI,Bold"/>
              </a:rPr>
              <a:t>4ꢁ</a:t>
            </a: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，五十个人彼</a:t>
            </a:r>
            <a:r>
              <a:rPr dirty="0" sz="2800" u="sng">
                <a:solidFill>
                  <a:srgbClr val="ff6d82"/>
                </a:solidFill>
                <a:latin typeface="MQEEGF+TWKAI,Bold"/>
                <a:cs typeface="MQEEGF+TWKAI,Bold"/>
              </a:rPr>
              <a:t>跤兜</a:t>
            </a:r>
            <a:r>
              <a:rPr dirty="0" sz="2800" baseline="29999">
                <a:solidFill>
                  <a:srgbClr val="ff6d82"/>
                </a:solidFill>
                <a:latin typeface="MQEEGF+TWKAI,Bold"/>
                <a:cs typeface="MQEEGF+TWKAI,Bold"/>
              </a:rPr>
              <a:t>5</a:t>
            </a: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。田主分</a:t>
            </a:r>
          </a:p>
          <a:p>
            <a:pPr marL="0" marR="0">
              <a:lnSpc>
                <a:spcPts val="3229"/>
              </a:lnSpc>
              <a:spcBef>
                <a:spcPts val="852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配工課予大人：有人起塗窯、有人抾柴、有人</a:t>
            </a:r>
            <a:r>
              <a:rPr dirty="0" sz="2800" u="sng">
                <a:solidFill>
                  <a:srgbClr val="ff6d82"/>
                </a:solidFill>
                <a:latin typeface="MQEEGF+TWKAI,Bold"/>
                <a:cs typeface="MQEEGF+TWKAI,Bold"/>
              </a:rPr>
              <a:t>掘</a:t>
            </a:r>
            <a:r>
              <a:rPr dirty="0" sz="2800" baseline="29999">
                <a:solidFill>
                  <a:srgbClr val="ff6d82"/>
                </a:solidFill>
                <a:latin typeface="MQEEGF+TWKAI,Bold"/>
                <a:cs typeface="MQEEGF+TWKAI,Bold"/>
              </a:rPr>
              <a:t>6ꢁ</a:t>
            </a:r>
          </a:p>
          <a:p>
            <a:pPr marL="0" marR="0">
              <a:lnSpc>
                <a:spcPts val="3229"/>
              </a:lnSpc>
              <a:spcBef>
                <a:spcPts val="802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番薯，囡仔就自由踮邊仔做助手，若無，嘛會當去</a:t>
            </a:r>
          </a:p>
          <a:p>
            <a:pPr marL="0" marR="0">
              <a:lnSpc>
                <a:spcPts val="3229"/>
              </a:lnSpc>
              <a:spcBef>
                <a:spcPts val="802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空地仔耍。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11774" y="4376871"/>
            <a:ext cx="1912091" cy="8002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dirty="0" sz="2450">
                <a:solidFill>
                  <a:srgbClr val="eb9981"/>
                </a:solidFill>
                <a:latin typeface="KWTCNS+Wingdings-Regular"/>
                <a:cs typeface="KWTCNS+Wingdings-Regular"/>
              </a:rPr>
              <a:t>l</a:t>
            </a:r>
            <a:r>
              <a:rPr dirty="0" sz="2450" spc="258">
                <a:solidFill>
                  <a:srgbClr val="eb9981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3d3935"/>
                </a:solidFill>
                <a:latin typeface="EVDDRD+TaiwaneseSerif,Bold"/>
                <a:cs typeface="EVDDRD+TaiwaneseSerif,Bold"/>
              </a:rPr>
              <a:t>kháu-tsàu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11774" y="4824393"/>
            <a:ext cx="3549015" cy="8096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67"/>
              </a:lnSpc>
              <a:spcBef>
                <a:spcPts val="0"/>
              </a:spcBef>
              <a:spcAft>
                <a:spcPts val="0"/>
              </a:spcAft>
            </a:pPr>
            <a:r>
              <a:rPr dirty="0" sz="2450">
                <a:solidFill>
                  <a:srgbClr val="eb9981"/>
                </a:solidFill>
                <a:latin typeface="KWTCNS+Wingdings-Regular"/>
                <a:cs typeface="KWTCNS+Wingdings-Regular"/>
              </a:rPr>
              <a:t>l</a:t>
            </a:r>
            <a:r>
              <a:rPr dirty="0" sz="2450" spc="258">
                <a:solidFill>
                  <a:srgbClr val="eb9981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3d3935"/>
                </a:solidFill>
                <a:latin typeface="MQEEGF+TWKAI,Bold"/>
                <a:cs typeface="MQEEGF+TWKAI,Bold"/>
              </a:rPr>
              <a:t>戶、計算家庭的單位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00071" y="5566910"/>
            <a:ext cx="333970" cy="2582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3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b="1">
                <a:solidFill>
                  <a:srgbClr val="ffffff"/>
                </a:solidFill>
                <a:latin typeface="PELGRM+MicrosoftJhengHeiBold"/>
                <a:cs typeface="PELGRM+MicrosoftJhengHeiBold"/>
              </a:rPr>
              <a:t>055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02616" y="1338161"/>
            <a:ext cx="7631112" cy="20529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2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u="sng">
                <a:solidFill>
                  <a:srgbClr val="ff6d82"/>
                </a:solidFill>
                <a:latin typeface="MQEEGF+TWKAI,Bold"/>
                <a:cs typeface="MQEEGF+TWKAI,Bold"/>
              </a:rPr>
              <a:t>塗窯</a:t>
            </a:r>
            <a:r>
              <a:rPr dirty="0" sz="2800" baseline="30000">
                <a:solidFill>
                  <a:srgbClr val="ff6d82"/>
                </a:solidFill>
                <a:latin typeface="MQEEGF+TWKAI,Bold"/>
                <a:cs typeface="MQEEGF+TWKAI,Bold"/>
              </a:rPr>
              <a:t>7</a:t>
            </a: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起好勢就開始</a:t>
            </a:r>
            <a:r>
              <a:rPr dirty="0" sz="2800" u="sng">
                <a:solidFill>
                  <a:srgbClr val="ff6d82"/>
                </a:solidFill>
                <a:latin typeface="MQEEGF+TWKAI,Bold"/>
                <a:cs typeface="MQEEGF+TWKAI,Bold"/>
              </a:rPr>
              <a:t>燃火</a:t>
            </a:r>
            <a:r>
              <a:rPr dirty="0" sz="2800" baseline="30000">
                <a:solidFill>
                  <a:srgbClr val="ff6d82"/>
                </a:solidFill>
                <a:latin typeface="MQEEGF+TWKAI,Bold"/>
                <a:cs typeface="MQEEGF+TWKAI,Bold"/>
              </a:rPr>
              <a:t>8</a:t>
            </a: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，共窯內的火保持</a:t>
            </a:r>
          </a:p>
          <a:p>
            <a:pPr marL="0" marR="0">
              <a:lnSpc>
                <a:spcPts val="3229"/>
              </a:lnSpc>
              <a:spcBef>
                <a:spcPts val="1188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予上</a:t>
            </a:r>
            <a:r>
              <a:rPr dirty="0" sz="2800" u="sng">
                <a:solidFill>
                  <a:srgbClr val="ff6d82"/>
                </a:solidFill>
                <a:latin typeface="MQEEGF+TWKAI,Bold"/>
                <a:cs typeface="MQEEGF+TWKAI,Bold"/>
              </a:rPr>
              <a:t>炎</a:t>
            </a:r>
            <a:r>
              <a:rPr dirty="0" sz="2800" baseline="29999">
                <a:solidFill>
                  <a:srgbClr val="ff6d82"/>
                </a:solidFill>
                <a:latin typeface="MQEEGF+TWKAI,Bold"/>
                <a:cs typeface="MQEEGF+TWKAI,Bold"/>
              </a:rPr>
              <a:t>9</a:t>
            </a: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，等所有的塗攏燒甲</a:t>
            </a:r>
            <a:r>
              <a:rPr dirty="0" sz="2800" u="sng">
                <a:solidFill>
                  <a:srgbClr val="ff6d82"/>
                </a:solidFill>
                <a:latin typeface="MQEEGF+TWKAI,Bold"/>
                <a:cs typeface="MQEEGF+TWKAI,Bold"/>
              </a:rPr>
              <a:t>紅絳絳</a:t>
            </a:r>
            <a:r>
              <a:rPr dirty="0" sz="2800" baseline="29999">
                <a:solidFill>
                  <a:srgbClr val="ff6d82"/>
                </a:solidFill>
                <a:latin typeface="MQEEGF+TWKAI,Bold"/>
                <a:cs typeface="MQEEGF+TWKAI,Bold"/>
              </a:rPr>
              <a:t>10</a:t>
            </a: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，</a:t>
            </a:r>
          </a:p>
          <a:p>
            <a:pPr marL="0" marR="0">
              <a:lnSpc>
                <a:spcPts val="3229"/>
              </a:lnSpc>
              <a:spcBef>
                <a:spcPts val="1188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就共拄掘起來的番薯，囥落去塗窯內底，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11774" y="4376871"/>
            <a:ext cx="1584517" cy="8005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dirty="0" sz="2450">
                <a:solidFill>
                  <a:srgbClr val="eb9981"/>
                </a:solidFill>
                <a:latin typeface="KWTCNS+Wingdings-Regular"/>
                <a:cs typeface="KWTCNS+Wingdings-Regular"/>
              </a:rPr>
              <a:t>l</a:t>
            </a:r>
            <a:r>
              <a:rPr dirty="0" sz="2450" spc="258">
                <a:solidFill>
                  <a:srgbClr val="eb9981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3d3935"/>
                </a:solidFill>
                <a:latin typeface="EVDDRD+TaiwaneseSerif,Bold"/>
                <a:cs typeface="EVDDRD+TaiwaneseSerif,Bold"/>
              </a:rPr>
              <a:t>thôo-iô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11774" y="4824393"/>
            <a:ext cx="4250055" cy="809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67"/>
              </a:lnSpc>
              <a:spcBef>
                <a:spcPts val="0"/>
              </a:spcBef>
              <a:spcAft>
                <a:spcPts val="0"/>
              </a:spcAft>
            </a:pPr>
            <a:r>
              <a:rPr dirty="0" sz="2450">
                <a:solidFill>
                  <a:srgbClr val="eb9981"/>
                </a:solidFill>
                <a:latin typeface="KWTCNS+Wingdings-Regular"/>
                <a:cs typeface="KWTCNS+Wingdings-Regular"/>
              </a:rPr>
              <a:t>l</a:t>
            </a:r>
            <a:r>
              <a:rPr dirty="0" sz="2450" spc="258">
                <a:solidFill>
                  <a:srgbClr val="eb9981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3d3935"/>
                </a:solidFill>
                <a:latin typeface="MQEEGF+TWKAI,Bold"/>
                <a:cs typeface="MQEEGF+TWKAI,Bold"/>
              </a:rPr>
              <a:t>用泥塊堆疊而成的小土窯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00071" y="5566910"/>
            <a:ext cx="333970" cy="2582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3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b="1">
                <a:solidFill>
                  <a:srgbClr val="ffffff"/>
                </a:solidFill>
                <a:latin typeface="PELGRM+MicrosoftJhengHeiBold"/>
                <a:cs typeface="PELGRM+MicrosoftJhengHeiBold"/>
              </a:rPr>
              <a:t>056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8670" y="1338978"/>
            <a:ext cx="8587740" cy="14982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2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用「</a:t>
            </a:r>
            <a:r>
              <a:rPr dirty="0" sz="2800" u="sng">
                <a:solidFill>
                  <a:srgbClr val="ff6d82"/>
                </a:solidFill>
                <a:latin typeface="MQEEGF+TWKAI,Bold"/>
                <a:cs typeface="MQEEGF+TWKAI,Bold"/>
              </a:rPr>
              <a:t>塗鍤</a:t>
            </a:r>
            <a:r>
              <a:rPr dirty="0" sz="2800" baseline="30000">
                <a:solidFill>
                  <a:srgbClr val="ff6d82"/>
                </a:solidFill>
                <a:latin typeface="MQEEGF+TWKAI,Bold"/>
                <a:cs typeface="MQEEGF+TWKAI,Bold"/>
              </a:rPr>
              <a:t>11</a:t>
            </a: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」共塗窯摃予碎，共番薯</a:t>
            </a:r>
            <a:r>
              <a:rPr dirty="0" sz="2800" u="sng">
                <a:solidFill>
                  <a:srgbClr val="ff6d82"/>
                </a:solidFill>
                <a:latin typeface="MQEEGF+TWKAI,Bold"/>
                <a:cs typeface="MQEEGF+TWKAI,Bold"/>
              </a:rPr>
              <a:t>崁</a:t>
            </a:r>
            <a:r>
              <a:rPr dirty="0" sz="2800" baseline="30000">
                <a:solidFill>
                  <a:srgbClr val="ff6d82"/>
                </a:solidFill>
                <a:latin typeface="MQEEGF+TWKAI,Bold"/>
                <a:cs typeface="MQEEGF+TWKAI,Bold"/>
              </a:rPr>
              <a:t>12ꢁ</a:t>
            </a: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甲密密</a:t>
            </a:r>
          </a:p>
          <a:p>
            <a:pPr marL="0" marR="0">
              <a:lnSpc>
                <a:spcPts val="3229"/>
              </a:lnSpc>
              <a:spcBef>
                <a:spcPts val="1188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密，閣挖邊仔的冷塗崁踮面頂，予燒氣較袂傷緊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8670" y="2448450"/>
            <a:ext cx="1244600" cy="94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2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散。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78713" y="2920450"/>
            <a:ext cx="1962546" cy="322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ffffff"/>
                </a:solidFill>
                <a:latin typeface="HGOBBQ+MicrosoftJhengHeiRegular"/>
                <a:cs typeface="HGOBBQ+MicrosoftJhengHeiRegular"/>
              </a:rPr>
              <a:t>台視台語新聞-逐工一字「崁」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12737" y="4394874"/>
            <a:ext cx="2051071" cy="8001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dirty="0" sz="2450">
                <a:solidFill>
                  <a:srgbClr val="eb9981"/>
                </a:solidFill>
                <a:latin typeface="KWTCNS+Wingdings-Regular"/>
                <a:cs typeface="KWTCNS+Wingdings-Regular"/>
              </a:rPr>
              <a:t>l</a:t>
            </a:r>
            <a:r>
              <a:rPr dirty="0" sz="2450" spc="258">
                <a:solidFill>
                  <a:srgbClr val="eb9981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3d3935"/>
                </a:solidFill>
                <a:latin typeface="EVDDRD+TaiwaneseSerif,Bold"/>
                <a:cs typeface="EVDDRD+TaiwaneseSerif,Bold"/>
              </a:rPr>
              <a:t>thôo-tshiah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12737" y="4842396"/>
            <a:ext cx="2325687" cy="8103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67"/>
              </a:lnSpc>
              <a:spcBef>
                <a:spcPts val="0"/>
              </a:spcBef>
              <a:spcAft>
                <a:spcPts val="0"/>
              </a:spcAft>
            </a:pPr>
            <a:r>
              <a:rPr dirty="0" sz="2450">
                <a:solidFill>
                  <a:srgbClr val="eb9981"/>
                </a:solidFill>
                <a:latin typeface="KWTCNS+Wingdings-Regular"/>
                <a:cs typeface="KWTCNS+Wingdings-Regular"/>
              </a:rPr>
              <a:t>l</a:t>
            </a:r>
            <a:r>
              <a:rPr dirty="0" sz="2450" spc="258">
                <a:solidFill>
                  <a:srgbClr val="eb9981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3d3935"/>
                </a:solidFill>
                <a:latin typeface="MQEEGF+TWKAI,Bold"/>
                <a:cs typeface="MQEEGF+TWKAI,Bold"/>
              </a:rPr>
              <a:t>鐵鍬、鐵鏟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00071" y="5566910"/>
            <a:ext cx="333970" cy="2582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3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b="1">
                <a:solidFill>
                  <a:srgbClr val="ffffff"/>
                </a:solidFill>
                <a:latin typeface="PELGRM+MicrosoftJhengHeiBold"/>
                <a:cs typeface="PELGRM+MicrosoftJhengHeiBold"/>
              </a:rPr>
              <a:t>056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14768" y="1270134"/>
            <a:ext cx="6951979" cy="23516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2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攏處理好勢了後，逐家就去空地仔耍。</a:t>
            </a:r>
          </a:p>
          <a:p>
            <a:pPr marL="0" marR="0">
              <a:lnSpc>
                <a:spcPts val="3229"/>
              </a:lnSpc>
              <a:spcBef>
                <a:spcPts val="466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過</a:t>
            </a:r>
            <a:r>
              <a:rPr dirty="0" sz="2800" u="sng">
                <a:solidFill>
                  <a:srgbClr val="ff6d82"/>
                </a:solidFill>
                <a:latin typeface="MQEEGF+TWKAI,Bold"/>
                <a:cs typeface="MQEEGF+TWKAI,Bold"/>
              </a:rPr>
              <a:t>成點鐘</a:t>
            </a:r>
            <a:r>
              <a:rPr dirty="0" sz="2800" baseline="29999">
                <a:solidFill>
                  <a:srgbClr val="ff6d82"/>
                </a:solidFill>
                <a:latin typeface="MQEEGF+TWKAI,Bold"/>
                <a:cs typeface="MQEEGF+TWKAI,Bold"/>
              </a:rPr>
              <a:t>13ꢁ</a:t>
            </a: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，大人開始攢中晝頓，食甲</a:t>
            </a:r>
          </a:p>
          <a:p>
            <a:pPr marL="0" marR="0">
              <a:lnSpc>
                <a:spcPts val="3229"/>
              </a:lnSpc>
              <a:spcBef>
                <a:spcPts val="466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半飽了後，就是今仔日的好戲─食炕好</a:t>
            </a:r>
          </a:p>
          <a:p>
            <a:pPr marL="0" marR="0">
              <a:lnSpc>
                <a:spcPts val="3229"/>
              </a:lnSpc>
              <a:spcBef>
                <a:spcPts val="466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的番薯。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12736" y="4400379"/>
            <a:ext cx="2672500" cy="1257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" marR="0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dirty="0" sz="2450">
                <a:solidFill>
                  <a:srgbClr val="eb9981"/>
                </a:solidFill>
                <a:latin typeface="KWTCNS+Wingdings-Regular"/>
                <a:cs typeface="KWTCNS+Wingdings-Regular"/>
              </a:rPr>
              <a:t>l</a:t>
            </a:r>
            <a:r>
              <a:rPr dirty="0" sz="2450" spc="258">
                <a:solidFill>
                  <a:srgbClr val="eb9981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3d3935"/>
                </a:solidFill>
                <a:latin typeface="EVDDRD+TaiwaneseSerif,Bold"/>
                <a:cs typeface="EVDDRD+TaiwaneseSerif,Bold"/>
              </a:rPr>
              <a:t>tsiânn</a:t>
            </a:r>
            <a:r>
              <a:rPr dirty="0" sz="2400" spc="-59">
                <a:solidFill>
                  <a:srgbClr val="3d3935"/>
                </a:solidFill>
                <a:latin typeface="EVDDRD+TaiwaneseSerif,Bold"/>
                <a:cs typeface="EVDDRD+TaiwaneseSerif,Bold"/>
              </a:rPr>
              <a:t> </a:t>
            </a:r>
            <a:r>
              <a:rPr dirty="0" sz="2400">
                <a:solidFill>
                  <a:srgbClr val="3d3935"/>
                </a:solidFill>
                <a:latin typeface="EVDDRD+TaiwaneseSerif,Bold"/>
                <a:cs typeface="EVDDRD+TaiwaneseSerif,Bold"/>
              </a:rPr>
              <a:t>tiám-tsing</a:t>
            </a:r>
          </a:p>
          <a:p>
            <a:pPr marL="0" marR="0">
              <a:lnSpc>
                <a:spcPts val="2767"/>
              </a:lnSpc>
              <a:spcBef>
                <a:spcPts val="829"/>
              </a:spcBef>
              <a:spcAft>
                <a:spcPts val="0"/>
              </a:spcAft>
            </a:pPr>
            <a:r>
              <a:rPr dirty="0" sz="2450">
                <a:solidFill>
                  <a:srgbClr val="eb9981"/>
                </a:solidFill>
                <a:latin typeface="KWTCNS+Wingdings-Regular"/>
                <a:cs typeface="KWTCNS+Wingdings-Regular"/>
              </a:rPr>
              <a:t>l</a:t>
            </a:r>
            <a:r>
              <a:rPr dirty="0" sz="2450" spc="258">
                <a:solidFill>
                  <a:srgbClr val="eb9981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3d3935"/>
                </a:solidFill>
                <a:latin typeface="MQEEGF+TWKAI,Bold"/>
                <a:cs typeface="MQEEGF+TWKAI,Bold"/>
              </a:rPr>
              <a:t>大約一小時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00071" y="5566910"/>
            <a:ext cx="333970" cy="2582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3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b="1">
                <a:solidFill>
                  <a:srgbClr val="ffffff"/>
                </a:solidFill>
                <a:latin typeface="PELGRM+MicrosoftJhengHeiBold"/>
                <a:cs typeface="PELGRM+MicrosoftJhengHeiBold"/>
              </a:rPr>
              <a:t>054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0098" y="1188719"/>
            <a:ext cx="8993029" cy="247971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2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大人掛手橐仔，挖猶閣</a:t>
            </a:r>
            <a:r>
              <a:rPr dirty="0" sz="2800" u="sng">
                <a:solidFill>
                  <a:srgbClr val="ff6d82"/>
                </a:solidFill>
                <a:latin typeface="MQEEGF+TWKAI,Bold"/>
                <a:cs typeface="MQEEGF+TWKAI,Bold"/>
              </a:rPr>
              <a:t>燒唿唿</a:t>
            </a:r>
            <a:r>
              <a:rPr dirty="0" sz="2800" baseline="29999">
                <a:solidFill>
                  <a:srgbClr val="ff6d82"/>
                </a:solidFill>
                <a:latin typeface="MQEEGF+TWKAI,Bold"/>
                <a:cs typeface="MQEEGF+TWKAI,Bold"/>
              </a:rPr>
              <a:t>14</a:t>
            </a: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的塗窯，芳貢貢的</a:t>
            </a:r>
          </a:p>
          <a:p>
            <a:pPr marL="0" marR="0">
              <a:lnSpc>
                <a:spcPts val="3229"/>
              </a:lnSpc>
              <a:spcBef>
                <a:spcPts val="852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番薯味，衝入逐家的鼻空內，喙瀾強欲</a:t>
            </a:r>
            <a:r>
              <a:rPr dirty="0" sz="2800" u="sng">
                <a:solidFill>
                  <a:srgbClr val="ff6d82"/>
                </a:solidFill>
                <a:latin typeface="MQEEGF+TWKAI,Bold"/>
                <a:cs typeface="MQEEGF+TWKAI,Bold"/>
              </a:rPr>
              <a:t>津</a:t>
            </a:r>
            <a:r>
              <a:rPr dirty="0" sz="2800" baseline="29999">
                <a:solidFill>
                  <a:srgbClr val="ff6d82"/>
                </a:solidFill>
                <a:latin typeface="MQEEGF+TWKAI,Bold"/>
                <a:cs typeface="MQEEGF+TWKAI,Bold"/>
              </a:rPr>
              <a:t>15</a:t>
            </a: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落來。</a:t>
            </a:r>
          </a:p>
          <a:p>
            <a:pPr marL="0" marR="0">
              <a:lnSpc>
                <a:spcPts val="3229"/>
              </a:lnSpc>
              <a:spcBef>
                <a:spcPts val="802"/>
              </a:spcBef>
              <a:spcAft>
                <a:spcPts val="0"/>
              </a:spcAft>
            </a:pPr>
            <a:r>
              <a:rPr dirty="0" sz="2800" u="sng">
                <a:solidFill>
                  <a:srgbClr val="ff6d82"/>
                </a:solidFill>
                <a:latin typeface="MQEEGF+TWKAI,Bold"/>
                <a:cs typeface="MQEEGF+TWKAI,Bold"/>
              </a:rPr>
              <a:t>袂堪得</a:t>
            </a:r>
            <a:r>
              <a:rPr dirty="0" sz="2800" baseline="29999">
                <a:solidFill>
                  <a:srgbClr val="ff6d82"/>
                </a:solidFill>
                <a:latin typeface="MQEEGF+TWKAI,Bold"/>
                <a:cs typeface="MQEEGF+TWKAI,Bold"/>
              </a:rPr>
              <a:t>16ꢁ</a:t>
            </a: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等到冷，阮就一人提一條，開始鑑定今仔</a:t>
            </a:r>
          </a:p>
          <a:p>
            <a:pPr marL="0" marR="0">
              <a:lnSpc>
                <a:spcPts val="3229"/>
              </a:lnSpc>
              <a:spcBef>
                <a:spcPts val="802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日的成績，真正芳閣ꢂ。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11774" y="4376871"/>
            <a:ext cx="2043300" cy="8001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dirty="0" sz="2450">
                <a:solidFill>
                  <a:srgbClr val="eb9981"/>
                </a:solidFill>
                <a:latin typeface="KWTCNS+Wingdings-Regular"/>
                <a:cs typeface="KWTCNS+Wingdings-Regular"/>
              </a:rPr>
              <a:t>l</a:t>
            </a:r>
            <a:r>
              <a:rPr dirty="0" sz="2450" spc="258">
                <a:solidFill>
                  <a:srgbClr val="eb9981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3d3935"/>
                </a:solidFill>
                <a:latin typeface="EVDDRD+TaiwaneseSerif,Bold"/>
                <a:cs typeface="EVDDRD+TaiwaneseSerif,Bold"/>
              </a:rPr>
              <a:t>sio-hut-hut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11774" y="4824393"/>
            <a:ext cx="2934890" cy="80992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67"/>
              </a:lnSpc>
              <a:spcBef>
                <a:spcPts val="0"/>
              </a:spcBef>
              <a:spcAft>
                <a:spcPts val="0"/>
              </a:spcAft>
            </a:pPr>
            <a:r>
              <a:rPr dirty="0" sz="2450">
                <a:solidFill>
                  <a:srgbClr val="eb9981"/>
                </a:solidFill>
                <a:latin typeface="KWTCNS+Wingdings-Regular"/>
                <a:cs typeface="KWTCNS+Wingdings-Regular"/>
              </a:rPr>
              <a:t>l</a:t>
            </a:r>
            <a:r>
              <a:rPr dirty="0" sz="2450" spc="258">
                <a:solidFill>
                  <a:srgbClr val="eb9981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3d3935"/>
                </a:solidFill>
                <a:latin typeface="MQEEGF+TWKAI,Bold"/>
                <a:cs typeface="MQEEGF+TWKAI,Bold"/>
              </a:rPr>
              <a:t>熱呼呼、熱騰騰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00071" y="5566910"/>
            <a:ext cx="333970" cy="2582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3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b="1">
                <a:solidFill>
                  <a:srgbClr val="ffffff"/>
                </a:solidFill>
                <a:latin typeface="PELGRM+MicrosoftJhengHeiBold"/>
                <a:cs typeface="PELGRM+MicrosoftJhengHeiBold"/>
              </a:rPr>
              <a:t>057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79716" y="1304820"/>
            <a:ext cx="7222172" cy="94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2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有這擺難忘的經驗，我共阿爸</a:t>
            </a:r>
            <a:r>
              <a:rPr dirty="0" sz="2800" u="sng">
                <a:solidFill>
                  <a:srgbClr val="ff6d82"/>
                </a:solidFill>
                <a:latin typeface="MQEEGF+TWKAI,Bold"/>
                <a:cs typeface="MQEEGF+TWKAI,Bold"/>
              </a:rPr>
              <a:t>姑情</a:t>
            </a:r>
            <a:r>
              <a:rPr dirty="0" sz="2800" baseline="29999">
                <a:solidFill>
                  <a:srgbClr val="ff6d82"/>
                </a:solidFill>
                <a:latin typeface="MQEEGF+TWKAI,Bold"/>
                <a:cs typeface="MQEEGF+TWKAI,Bold"/>
              </a:rPr>
              <a:t>17</a:t>
            </a:r>
            <a:r>
              <a:rPr dirty="0" sz="2800">
                <a:solidFill>
                  <a:srgbClr val="3d3935"/>
                </a:solidFill>
                <a:latin typeface="MQEEGF+TWKAI,Bold"/>
                <a:cs typeface="MQEEGF+TWKAI,Bold"/>
              </a:rPr>
              <a:t>講：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9716" y="1816884"/>
            <a:ext cx="8178799" cy="94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229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spc="-70">
                <a:solidFill>
                  <a:srgbClr val="3d3935"/>
                </a:solidFill>
                <a:latin typeface="MQEEGF+TWKAI,Bold"/>
                <a:cs typeface="MQEEGF+TWKAI,Bold"/>
              </a:rPr>
              <a:t>「以後逐年上少愛ꢃ規家伙仔去炕窯一擺。」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12737" y="4513005"/>
            <a:ext cx="1983959" cy="8001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dirty="0" sz="2450">
                <a:solidFill>
                  <a:srgbClr val="eb9981"/>
                </a:solidFill>
                <a:latin typeface="KWTCNS+Wingdings-Regular"/>
                <a:cs typeface="KWTCNS+Wingdings-Regular"/>
              </a:rPr>
              <a:t>l</a:t>
            </a:r>
            <a:r>
              <a:rPr dirty="0" sz="2450" spc="258">
                <a:solidFill>
                  <a:srgbClr val="eb9981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3d3935"/>
                </a:solidFill>
                <a:latin typeface="EVDDRD+TaiwaneseSerif,Bold"/>
                <a:cs typeface="EVDDRD+TaiwaneseSerif,Bold"/>
              </a:rPr>
              <a:t>koo-tsiânn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12736" y="4960526"/>
            <a:ext cx="3239558" cy="809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67"/>
              </a:lnSpc>
              <a:spcBef>
                <a:spcPts val="0"/>
              </a:spcBef>
              <a:spcAft>
                <a:spcPts val="0"/>
              </a:spcAft>
            </a:pPr>
            <a:r>
              <a:rPr dirty="0" sz="2450">
                <a:solidFill>
                  <a:srgbClr val="eb9981"/>
                </a:solidFill>
                <a:latin typeface="KWTCNS+Wingdings-Regular"/>
                <a:cs typeface="KWTCNS+Wingdings-Regular"/>
              </a:rPr>
              <a:t>l</a:t>
            </a:r>
            <a:r>
              <a:rPr dirty="0" sz="2450" spc="258">
                <a:solidFill>
                  <a:srgbClr val="eb9981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3d3935"/>
                </a:solidFill>
                <a:latin typeface="MQEEGF+TWKAI,Bold"/>
                <a:cs typeface="MQEEGF+TWKAI,Bold"/>
              </a:rPr>
              <a:t>懇求、情商、央求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00071" y="5566910"/>
            <a:ext cx="333970" cy="2582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3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b="1">
                <a:solidFill>
                  <a:srgbClr val="ffffff"/>
                </a:solidFill>
                <a:latin typeface="PELGRM+MicrosoftJhengHeiBold"/>
                <a:cs typeface="PELGRM+MicrosoftJhengHeiBold"/>
              </a:rPr>
              <a:t>057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pdfcandle</dc:creator>
  <cp:lastModifiedBy>pdfcandle</cp:lastModifiedBy>
  <cp:revision>1</cp:revision>
  <dcterms:modified xsi:type="dcterms:W3CDTF">2026-09-05T07:07:46-07:00</dcterms:modified>
</cp:coreProperties>
</file>